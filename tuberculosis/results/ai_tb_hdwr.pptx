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4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5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6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7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8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theme/theme9.xml" ContentType="application/vnd.openxmlformats-officedocument.theme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0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5"/>
    <p:sldMasterId id="2147483739" r:id="rId6"/>
    <p:sldMasterId id="2147483754" r:id="rId7"/>
    <p:sldMasterId id="2147483724" r:id="rId8"/>
    <p:sldMasterId id="2147483769" r:id="rId9"/>
    <p:sldMasterId id="2147483708" r:id="rId10"/>
    <p:sldMasterId id="2147483784" r:id="rId11"/>
    <p:sldMasterId id="2147483800" r:id="rId12"/>
    <p:sldMasterId id="2147483816" r:id="rId13"/>
    <p:sldMasterId id="2147483832" r:id="rId14"/>
    <p:sldMasterId id="2147483694" r:id="rId15"/>
  </p:sldMasterIdLst>
  <p:notesMasterIdLst>
    <p:notesMasterId r:id="rId25"/>
  </p:notesMasterIdLst>
  <p:sldIdLst>
    <p:sldId id="307" r:id="rId16"/>
    <p:sldId id="308" r:id="rId17"/>
    <p:sldId id="332" r:id="rId18"/>
    <p:sldId id="339" r:id="rId19"/>
    <p:sldId id="344" r:id="rId20"/>
    <p:sldId id="340" r:id="rId21"/>
    <p:sldId id="341" r:id="rId22"/>
    <p:sldId id="342" r:id="rId23"/>
    <p:sldId id="30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7355" userDrawn="1">
          <p15:clr>
            <a:srgbClr val="A4A3A4"/>
          </p15:clr>
        </p15:guide>
        <p15:guide id="5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5A"/>
    <a:srgbClr val="E94D36"/>
    <a:srgbClr val="67C04D"/>
    <a:srgbClr val="BE2BBB"/>
    <a:srgbClr val="00A788"/>
    <a:srgbClr val="008AAD"/>
    <a:srgbClr val="00BED5"/>
    <a:srgbClr val="FBBB10"/>
    <a:srgbClr val="62626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C9E0B-0C2A-3EB1-73F0-BB2B96EA3EBC}" v="19" dt="2025-05-27T12:43:26.2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58" autoAdjust="0"/>
    <p:restoredTop sz="96190"/>
  </p:normalViewPr>
  <p:slideViewPr>
    <p:cSldViewPr snapToGrid="0" snapToObjects="1">
      <p:cViewPr varScale="1">
        <p:scale>
          <a:sx n="104" d="100"/>
          <a:sy n="104" d="100"/>
        </p:scale>
        <p:origin x="240" y="720"/>
      </p:cViewPr>
      <p:guideLst>
        <p:guide pos="7355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Master" Target="slideMasters/slideMaster9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3.xml"/><Relationship Id="rId12" Type="http://schemas.openxmlformats.org/officeDocument/2006/relationships/slideMaster" Target="slideMasters/slideMaster8.xml"/><Relationship Id="rId17" Type="http://schemas.openxmlformats.org/officeDocument/2006/relationships/slide" Target="slides/slide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Master" Target="slideMasters/slideMaster7.xml"/><Relationship Id="rId24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5" Type="http://schemas.openxmlformats.org/officeDocument/2006/relationships/slideMaster" Target="slideMasters/slideMaster11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4.xml"/><Relationship Id="rId31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Master" Target="slideMasters/slideMaster10.xml"/><Relationship Id="rId22" Type="http://schemas.openxmlformats.org/officeDocument/2006/relationships/slide" Target="slides/slide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ani" userId="S::asani_mrc.gm#ext#@lshtm.onmicrosoft.com::7a311617-9322-4d03-bbb2-016974ed0ca2" providerId="AD" clId="Web-{796C9E0B-0C2A-3EB1-73F0-BB2B96EA3EBC}"/>
    <pc:docChg chg="modSld">
      <pc:chgData name="asani" userId="S::asani_mrc.gm#ext#@lshtm.onmicrosoft.com::7a311617-9322-4d03-bbb2-016974ed0ca2" providerId="AD" clId="Web-{796C9E0B-0C2A-3EB1-73F0-BB2B96EA3EBC}" dt="2025-05-27T12:43:26.214" v="10" actId="20577"/>
      <pc:docMkLst>
        <pc:docMk/>
      </pc:docMkLst>
      <pc:sldChg chg="modSp">
        <pc:chgData name="asani" userId="S::asani_mrc.gm#ext#@lshtm.onmicrosoft.com::7a311617-9322-4d03-bbb2-016974ed0ca2" providerId="AD" clId="Web-{796C9E0B-0C2A-3EB1-73F0-BB2B96EA3EBC}" dt="2025-05-27T12:43:26.214" v="10" actId="20577"/>
        <pc:sldMkLst>
          <pc:docMk/>
          <pc:sldMk cId="3242208106" sldId="332"/>
        </pc:sldMkLst>
        <pc:spChg chg="mod">
          <ac:chgData name="asani" userId="S::asani_mrc.gm#ext#@lshtm.onmicrosoft.com::7a311617-9322-4d03-bbb2-016974ed0ca2" providerId="AD" clId="Web-{796C9E0B-0C2A-3EB1-73F0-BB2B96EA3EBC}" dt="2025-05-27T12:43:26.214" v="10" actId="20577"/>
          <ac:spMkLst>
            <pc:docMk/>
            <pc:sldMk cId="3242208106" sldId="332"/>
            <ac:spMk id="4" creationId="{E7CEE6B1-2F54-3E9E-679E-14FF59C622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FE9A4A-3203-D544-A0F2-9B4A7A1B021E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F3BA1D-A00F-DB41-84DA-BE26C4853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6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3BA1D-A00F-DB41-84DA-BE26C4853B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56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85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97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75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3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1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424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01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7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4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17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671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54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45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63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81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88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809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56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 userDrawn="1">
          <p15:clr>
            <a:srgbClr val="FBAE40"/>
          </p15:clr>
        </p15:guide>
        <p15:guide id="2" orient="horz" pos="210" userDrawn="1">
          <p15:clr>
            <a:srgbClr val="FBAE40"/>
          </p15:clr>
        </p15:guide>
        <p15:guide id="3" orient="horz" pos="84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29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449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03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436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221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1E81-2A89-264F-8F3A-B4EDD4A5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0C5E-0BC3-0A4F-86F0-1DAD94734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35292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869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776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31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672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97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1253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5114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904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572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226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604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8869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8936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1E81-2A89-264F-8F3A-B4EDD4A5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0C5E-0BC3-0A4F-86F0-1DAD94734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8962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4036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290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595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47719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5760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692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730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798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621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066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65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073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41759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1E81-2A89-264F-8F3A-B4EDD4A5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0C5E-0BC3-0A4F-86F0-1DAD94734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248125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53019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0409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369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132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168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0265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308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261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5076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1671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827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59011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496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91E81-2A89-264F-8F3A-B4EDD4A5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70C5E-0BC3-0A4F-86F0-1DAD94734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583647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3491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5692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849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1372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89727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26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577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111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22076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327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0903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46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4755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7180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89177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959252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576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2197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167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2612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6619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834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9778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639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4051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2740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3006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4573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66648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91452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21495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0926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3496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43380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214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6093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2145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5481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1185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8825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1435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9363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0831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62491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1330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15258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5098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769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28734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138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819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7271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9309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9205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9620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5209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4274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945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848699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68326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15190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00" y="365125"/>
            <a:ext cx="10515600" cy="722895"/>
          </a:xfrm>
        </p:spPr>
        <p:txBody>
          <a:bodyPr>
            <a:normAutofit/>
          </a:bodyPr>
          <a:lstStyle>
            <a:lvl1pPr>
              <a:defRPr sz="3600" baseline="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00" y="1393200"/>
            <a:ext cx="10515600" cy="4351338"/>
          </a:xfrm>
        </p:spPr>
        <p:txBody>
          <a:bodyPr>
            <a:normAutofit/>
          </a:bodyPr>
          <a:lstStyle>
            <a:lvl1pPr>
              <a:defRPr sz="1400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3868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06375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3448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667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2050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228944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93647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98915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66504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8680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06427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4596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68740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3501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465090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6C3C-DDC9-4A4B-A6BB-18D5C6BD4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45177-E4A6-6847-B9A4-54832D672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E712-E13F-6F4B-B3AC-3F073D437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A777E-15FA-7249-8F7D-ACD48508C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3ABEE-43FB-4947-BA77-B6D089609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3588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BAA7-71CF-0A4B-888B-EAAB8B61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EB6A-5768-B54E-8C8A-8842028C2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79E66-8393-6C4F-A6F5-ADD0F7C7D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4911A-F50F-9643-BF68-AC5E7E95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CD92-1042-184F-893E-F87801FD1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2824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0C03-FD22-CC47-BCA2-C982075C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8C265-62BB-2B41-BABC-2E245F4CE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5DABD-4A21-9649-A2AE-011637338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2C7A-2542-A845-85A5-3B9DAC4EF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CCF62-4AF2-7642-BD7E-C8D4C8DF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9462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E5C6-AEDB-B54A-A0AE-D017F7E7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EC126-1AD8-8947-9D15-E96D0A2A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88C1C-0E34-644F-907B-860A7D67F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5AC-484C-434E-91DE-EB2DFC2CD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4A790-B4B0-F342-A4F0-3CA4130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3460EB-C18A-7747-8ACE-56CD62D3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48196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C39C-9799-ED49-9336-C33A3DE22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27545-9981-1B4C-AFBE-99523E6D4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CF20-1F9A-BB41-8285-F6DFB72E7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90C94-85BE-6042-A8B2-ADBA61B3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3636-3829-9D47-819D-684A89575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3D827-C621-DE40-AF6A-5B6D8D2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D8CC2-BD94-564B-BC44-1A258FAC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A54A5-CF5D-564B-9EA9-3B02D5E5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886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5C60E-D9EC-3B40-B2D2-987CF9E6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E07F8-B56C-3645-8BDF-67B94309A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A028-8E37-214C-A0A0-1C365F5F2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62C252-6B6D-3349-B87C-3B6F3469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3173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E6966-90D6-6A43-ABFA-6424E428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8E345-9948-D342-8ED6-1C82F8900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CF44B-DE2A-B449-9687-26F17BCB9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8759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6668F-DFC2-1A42-9DEF-4904ED2F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421E7-F6F8-D147-839C-3CD6CEEE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CD195-D8BB-4B4F-A309-91989CB29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22563-01E7-A14D-832B-6747D22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B5BBC-CB9B-114B-A8FD-BBE6E96B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E0E48-FAB1-0E4D-9C00-18E68A6B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60970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E6F0-3C18-7B40-B729-99AD3936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9D51F-EB34-CF46-88FB-595409295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849B8-4D56-5B40-9FC3-713CDF945F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B854D-C3C4-494B-9B9A-06838464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1E7D9-230B-F34D-924D-5923FD99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C96AD-7989-6044-8953-C11DE023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4691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C2EE-F821-4C43-AA2F-04295775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890E6-3242-504F-B5BF-8EFADD79BF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6C2F-02E3-004E-A61B-C112B4DD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45FA-5E02-C348-8B73-79D8FF1BE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1CF8E-806F-684A-BA15-000958565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27384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67FF98-93B9-614A-956D-616315C92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47278-13CF-044A-B803-ABF47169A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4B06C-A89B-6145-99D0-AF10A69C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64436-FE79-A64C-B05F-B9D9DCB0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632B0-22AA-5E47-B0B8-4420B812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40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5" Type="http://schemas.openxmlformats.org/officeDocument/2006/relationships/slideLayout" Target="../slideLayouts/slideLayout45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50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6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3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0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6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6" Type="http://schemas.openxmlformats.org/officeDocument/2006/relationships/theme" Target="../theme/theme7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6" Type="http://schemas.openxmlformats.org/officeDocument/2006/relationships/theme" Target="../theme/theme8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6" Type="http://schemas.openxmlformats.org/officeDocument/2006/relationships/theme" Target="../theme/theme9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41.xml"/><Relationship Id="rId3" Type="http://schemas.openxmlformats.org/officeDocument/2006/relationships/slideLayout" Target="../slideLayouts/slideLayout131.xml"/><Relationship Id="rId7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40.xml"/><Relationship Id="rId2" Type="http://schemas.openxmlformats.org/officeDocument/2006/relationships/slideLayout" Target="../slideLayouts/slideLayout130.xml"/><Relationship Id="rId16" Type="http://schemas.openxmlformats.org/officeDocument/2006/relationships/theme" Target="../theme/theme10.xml"/><Relationship Id="rId1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9.xml"/><Relationship Id="rId5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38.xml"/><Relationship Id="rId4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42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240BD106-0937-5B46-86A8-A98CD3C6E84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24376" y="5904384"/>
            <a:ext cx="3420000" cy="63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483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8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5" orient="horz" pos="2500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37AE36CB-7461-5A43-A625-552000105FA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42912" y="333374"/>
            <a:ext cx="5653087" cy="104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6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5" orient="horz" pos="2500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8B5B5022-01AA-E54B-8C17-6CD6031EC23A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442800" y="334800"/>
            <a:ext cx="5665790" cy="10512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724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5" orient="horz" pos="2500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66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F4111437-AB48-A145-B0FC-34EF6C608E0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4000" y="5904000"/>
            <a:ext cx="3395593" cy="630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5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18FBE-4439-BC45-934F-4925D0A3215B}"/>
              </a:ext>
            </a:extLst>
          </p:cNvPr>
          <p:cNvSpPr/>
          <p:nvPr userDrawn="1"/>
        </p:nvSpPr>
        <p:spPr>
          <a:xfrm>
            <a:off x="441528" y="6014591"/>
            <a:ext cx="720417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Medical Research Council Unit The Gambia at the London School of Hygiene &amp; Tropical Medicine 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C6DDEF-95D7-5F4D-AFD5-8FB0C0BD6B59}"/>
              </a:ext>
            </a:extLst>
          </p:cNvPr>
          <p:cNvSpPr/>
          <p:nvPr userDrawn="1"/>
        </p:nvSpPr>
        <p:spPr>
          <a:xfrm>
            <a:off x="9573657" y="6263068"/>
            <a:ext cx="23465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GB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www.mrc.gm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050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333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18FBE-4439-BC45-934F-4925D0A3215B}"/>
              </a:ext>
            </a:extLst>
          </p:cNvPr>
          <p:cNvSpPr/>
          <p:nvPr userDrawn="1"/>
        </p:nvSpPr>
        <p:spPr>
          <a:xfrm>
            <a:off x="441528" y="6009978"/>
            <a:ext cx="73181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Medical Research Council Unit The Gambia at the London School of Hygiene &amp; Tropical Medicine 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C6DDEF-95D7-5F4D-AFD5-8FB0C0BD6B59}"/>
              </a:ext>
            </a:extLst>
          </p:cNvPr>
          <p:cNvSpPr/>
          <p:nvPr userDrawn="1"/>
        </p:nvSpPr>
        <p:spPr>
          <a:xfrm>
            <a:off x="9563101" y="6263068"/>
            <a:ext cx="2451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GB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www.mrc.gm</a:t>
            </a:r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59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  <p15:guide id="2" pos="7333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18FBE-4439-BC45-934F-4925D0A3215B}"/>
              </a:ext>
            </a:extLst>
          </p:cNvPr>
          <p:cNvSpPr/>
          <p:nvPr userDrawn="1"/>
        </p:nvSpPr>
        <p:spPr>
          <a:xfrm>
            <a:off x="441528" y="6009978"/>
            <a:ext cx="7356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Medical Research Council Unit The Gambia at the London School of Hygiene &amp; Tropical Medicine 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506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518FBE-4439-BC45-934F-4925D0A3215B}"/>
              </a:ext>
            </a:extLst>
          </p:cNvPr>
          <p:cNvSpPr/>
          <p:nvPr userDrawn="1"/>
        </p:nvSpPr>
        <p:spPr>
          <a:xfrm>
            <a:off x="441528" y="6009978"/>
            <a:ext cx="51464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Medical Research Council Unit The Gambia at the London School of Hygiene &amp; Tropical Medicine 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78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8A6FAE-5B1D-E44C-8595-46D2B287D105}"/>
              </a:ext>
            </a:extLst>
          </p:cNvPr>
          <p:cNvSpPr/>
          <p:nvPr userDrawn="1"/>
        </p:nvSpPr>
        <p:spPr>
          <a:xfrm>
            <a:off x="441528" y="6247430"/>
            <a:ext cx="110138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latin typeface="Arial" panose="020B0604020202020204" pitchFamily="34" charset="0"/>
                <a:cs typeface="Arial" panose="020B0604020202020204" pitchFamily="34" charset="0"/>
              </a:rPr>
              <a:t>Medical Research Council Unit The Gambia at the London School of Hygiene &amp; Tropical Medicine 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21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4FFC9-16DA-5E42-9B85-705D6D513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99F4B1-CF42-9B4B-837B-C2676B4B4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243E0-BA09-764B-8600-3C90107C17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9B04E-34F7-234A-A2F3-02AC3C60A4C6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A2BF0-F387-BB44-9E05-DF9EA5203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E5DEC-72DD-4449-AB88-D903B1A365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B6C04-F5E1-3947-BDE4-85543675AD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4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Wingdings" pitchFamily="2" charset="2"/>
        <a:buChar char="§"/>
        <a:defRPr sz="2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4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Wingdings" pitchFamily="2" charset="2"/>
        <a:buChar char="§"/>
        <a:defRPr sz="1800" kern="1200">
          <a:solidFill>
            <a:schemeClr val="accent4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emf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03E0-4B97-674C-9190-05B3D25F6BE9}"/>
              </a:ext>
            </a:extLst>
          </p:cNvPr>
          <p:cNvSpPr txBox="1"/>
          <p:nvPr/>
        </p:nvSpPr>
        <p:spPr>
          <a:xfrm>
            <a:off x="596348" y="1659826"/>
            <a:ext cx="1081377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6000" b="1" spc="-15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for Childhood TB diagnosis based on clinical symptoms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C66ECC-A532-4A4F-B8A3-0D07C74C23AE}"/>
              </a:ext>
            </a:extLst>
          </p:cNvPr>
          <p:cNvSpPr/>
          <p:nvPr/>
        </p:nvSpPr>
        <p:spPr>
          <a:xfrm>
            <a:off x="3739877" y="3906038"/>
            <a:ext cx="30888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By: </a:t>
            </a:r>
            <a:r>
              <a:rPr lang="en-GB" sz="2400" b="1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Ismael KONE &amp; Sani Amadou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470E06-F5D9-CABE-012A-FD8C9C06D7BF}"/>
              </a:ext>
            </a:extLst>
          </p:cNvPr>
          <p:cNvSpPr/>
          <p:nvPr/>
        </p:nvSpPr>
        <p:spPr>
          <a:xfrm>
            <a:off x="2796988" y="6001140"/>
            <a:ext cx="49746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Friday 23 May,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5543B-24F4-0B12-5FEF-C68151AFD077}"/>
              </a:ext>
            </a:extLst>
          </p:cNvPr>
          <p:cNvSpPr/>
          <p:nvPr/>
        </p:nvSpPr>
        <p:spPr>
          <a:xfrm>
            <a:off x="3214326" y="4953589"/>
            <a:ext cx="413995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Supervised By: </a:t>
            </a:r>
          </a:p>
          <a:p>
            <a:pPr algn="ctr"/>
            <a:r>
              <a:rPr lang="en-GB" sz="2400" b="1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</a:t>
            </a:r>
            <a:r>
              <a:rPr lang="en-GB" sz="2400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400" b="1" dirty="0" err="1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Bubacarr</a:t>
            </a:r>
            <a:r>
              <a:rPr lang="en-GB" sz="2400" b="1" dirty="0">
                <a:solidFill>
                  <a:srgbClr val="6262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Bah</a:t>
            </a:r>
          </a:p>
        </p:txBody>
      </p:sp>
    </p:spTree>
    <p:extLst>
      <p:ext uri="{BB962C8B-B14F-4D97-AF65-F5344CB8AC3E}">
        <p14:creationId xmlns:p14="http://schemas.microsoft.com/office/powerpoint/2010/main" val="4265479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8B4535-497A-8DFC-D5A2-A4707A5961B0}"/>
              </a:ext>
            </a:extLst>
          </p:cNvPr>
          <p:cNvSpPr txBox="1"/>
          <p:nvPr/>
        </p:nvSpPr>
        <p:spPr>
          <a:xfrm>
            <a:off x="702045" y="2583336"/>
            <a:ext cx="510181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2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2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Problem description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A612B-0411-DF14-E4E6-A86C3D14AB2C}"/>
              </a:ext>
            </a:extLst>
          </p:cNvPr>
          <p:cNvSpPr txBox="1"/>
          <p:nvPr/>
        </p:nvSpPr>
        <p:spPr>
          <a:xfrm>
            <a:off x="702045" y="3335707"/>
            <a:ext cx="510181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2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A5A8C-5057-E7B9-259B-0C347FB519F4}"/>
              </a:ext>
            </a:extLst>
          </p:cNvPr>
          <p:cNvSpPr txBox="1"/>
          <p:nvPr/>
        </p:nvSpPr>
        <p:spPr>
          <a:xfrm>
            <a:off x="702045" y="4088078"/>
            <a:ext cx="510181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2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2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 done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D2A57-3453-3087-B2DF-C25129E284F7}"/>
              </a:ext>
            </a:extLst>
          </p:cNvPr>
          <p:cNvSpPr txBox="1"/>
          <p:nvPr/>
        </p:nvSpPr>
        <p:spPr>
          <a:xfrm>
            <a:off x="702045" y="4840449"/>
            <a:ext cx="510181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2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Preliminary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2AC52E-F56E-CAF9-C2BF-671A5AC0C71E}"/>
              </a:ext>
            </a:extLst>
          </p:cNvPr>
          <p:cNvSpPr txBox="1"/>
          <p:nvPr/>
        </p:nvSpPr>
        <p:spPr>
          <a:xfrm>
            <a:off x="313892" y="1498123"/>
            <a:ext cx="6356456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5400" b="1" spc="-15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96D22F-A3C8-4040-6F5B-01F0DAD6BCB3}"/>
              </a:ext>
            </a:extLst>
          </p:cNvPr>
          <p:cNvSpPr txBox="1"/>
          <p:nvPr/>
        </p:nvSpPr>
        <p:spPr>
          <a:xfrm>
            <a:off x="702045" y="5592820"/>
            <a:ext cx="510181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2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32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Next steps</a:t>
            </a:r>
          </a:p>
        </p:txBody>
      </p:sp>
    </p:spTree>
    <p:extLst>
      <p:ext uri="{BB962C8B-B14F-4D97-AF65-F5344CB8AC3E}">
        <p14:creationId xmlns:p14="http://schemas.microsoft.com/office/powerpoint/2010/main" val="2685113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03E0-4B97-674C-9190-05B3D25F6BE9}"/>
              </a:ext>
            </a:extLst>
          </p:cNvPr>
          <p:cNvSpPr txBox="1"/>
          <p:nvPr/>
        </p:nvSpPr>
        <p:spPr>
          <a:xfrm>
            <a:off x="6539948" y="424585"/>
            <a:ext cx="486847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6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36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Problem description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EE6B1-2F54-3E9E-679E-14FF59C622CA}"/>
              </a:ext>
            </a:extLst>
          </p:cNvPr>
          <p:cNvSpPr txBox="1"/>
          <p:nvPr/>
        </p:nvSpPr>
        <p:spPr>
          <a:xfrm>
            <a:off x="346255" y="1465518"/>
            <a:ext cx="11685103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Recap of meeting with </a:t>
            </a:r>
            <a:r>
              <a:rPr lang="en-US" sz="2400" b="1" dirty="0" err="1">
                <a:solidFill>
                  <a:srgbClr val="002060"/>
                </a:solidFill>
              </a:rPr>
              <a:t>Pr</a:t>
            </a:r>
            <a:r>
              <a:rPr lang="en-US" sz="2400" b="1" dirty="0">
                <a:solidFill>
                  <a:srgbClr val="002060"/>
                </a:solidFill>
              </a:rPr>
              <a:t> Toyin (16/05/25)</a:t>
            </a:r>
            <a:r>
              <a:rPr lang="en-US" sz="2400" b="1" dirty="0">
                <a:solidFill>
                  <a:srgbClr val="C00000"/>
                </a:solidFill>
              </a:rPr>
              <a:t>: 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2400" b="1" dirty="0">
                <a:solidFill>
                  <a:srgbClr val="7030A0"/>
                </a:solidFill>
              </a:rPr>
              <a:t>The dataset is not suited for MDR-TB study (Accuracy of </a:t>
            </a:r>
            <a:r>
              <a:rPr lang="en-US" sz="2400" b="1" dirty="0" err="1">
                <a:solidFill>
                  <a:srgbClr val="7030A0"/>
                </a:solidFill>
              </a:rPr>
              <a:t>GenXpert</a:t>
            </a:r>
            <a:r>
              <a:rPr lang="en-US" sz="2400" b="1" dirty="0">
                <a:solidFill>
                  <a:srgbClr val="7030A0"/>
                </a:solidFill>
              </a:rPr>
              <a:t>)</a:t>
            </a:r>
            <a:endParaRPr lang="en-US" sz="2400" b="1" dirty="0">
              <a:solidFill>
                <a:srgbClr val="7030A0"/>
              </a:solidFill>
              <a:cs typeface="Arial" panose="020B0604020202020204"/>
            </a:endParaRPr>
          </a:p>
          <a:p>
            <a:pPr marL="571500" indent="-571500">
              <a:buChar char="-"/>
            </a:pPr>
            <a:endParaRPr lang="en-US" sz="2400" b="1" dirty="0">
              <a:solidFill>
                <a:srgbClr val="7030A0"/>
              </a:solidFill>
              <a:cs typeface="Arial" panose="020B0604020202020204"/>
            </a:endParaRPr>
          </a:p>
          <a:p>
            <a:pPr marL="571500" indent="-571500">
              <a:buFontTx/>
              <a:buChar char="-"/>
            </a:pPr>
            <a:r>
              <a:rPr lang="en-US" sz="2400" b="1" dirty="0">
                <a:solidFill>
                  <a:srgbClr val="FF5A5A"/>
                </a:solidFill>
              </a:rPr>
              <a:t>New objective</a:t>
            </a:r>
            <a:r>
              <a:rPr lang="en-US" sz="2400" b="1" dirty="0">
                <a:solidFill>
                  <a:srgbClr val="7030A0"/>
                </a:solidFill>
              </a:rPr>
              <a:t>: </a:t>
            </a:r>
            <a:r>
              <a:rPr lang="en-US" sz="2400" b="1" dirty="0">
                <a:solidFill>
                  <a:srgbClr val="00A788"/>
                </a:solidFill>
              </a:rPr>
              <a:t>build an AI model to predict TB based on clinical information and identify driving factors</a:t>
            </a:r>
          </a:p>
          <a:p>
            <a:pPr marL="571500" indent="-571500">
              <a:buFontTx/>
              <a:buChar char="-"/>
            </a:pPr>
            <a:endParaRPr lang="en-US" sz="2400" b="1" dirty="0">
              <a:solidFill>
                <a:srgbClr val="7030A0"/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2400" b="1" dirty="0">
                <a:solidFill>
                  <a:srgbClr val="7030A0"/>
                </a:solidFill>
              </a:rPr>
              <a:t>Given the limited size of the data (228), validation will be done on external dataset from his team at MRC to evaluate the effectiveness of the AI model.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A4C0B-811B-0E40-7BA0-5DBD4375B3F0}"/>
              </a:ext>
            </a:extLst>
          </p:cNvPr>
          <p:cNvSpPr txBox="1"/>
          <p:nvPr/>
        </p:nvSpPr>
        <p:spPr>
          <a:xfrm>
            <a:off x="346255" y="5028848"/>
            <a:ext cx="11590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à"/>
            </a:pPr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Met (22/05/25) with Dr </a:t>
            </a:r>
            <a:r>
              <a:rPr lang="en-US" sz="2400" b="1" dirty="0" err="1">
                <a:solidFill>
                  <a:srgbClr val="C00000"/>
                </a:solidFill>
                <a:sym typeface="Wingdings" pitchFamily="2" charset="2"/>
              </a:rPr>
              <a:t>Edem</a:t>
            </a:r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 from </a:t>
            </a:r>
            <a:r>
              <a:rPr lang="en-US" sz="2400" b="1" dirty="0" err="1">
                <a:solidFill>
                  <a:srgbClr val="C00000"/>
                </a:solidFill>
                <a:sym typeface="Wingdings" pitchFamily="2" charset="2"/>
              </a:rPr>
              <a:t>Pr</a:t>
            </a:r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 Toyin </a:t>
            </a:r>
            <a:r>
              <a:rPr lang="en-US" sz="2400" b="1" dirty="0">
                <a:solidFill>
                  <a:srgbClr val="002060"/>
                </a:solidFill>
                <a:sym typeface="Wingdings" pitchFamily="2" charset="2"/>
              </a:rPr>
              <a:t>team to check the compatibility between both data: </a:t>
            </a:r>
          </a:p>
          <a:p>
            <a:pPr marL="800100" lvl="1" indent="-342900">
              <a:buFont typeface="Wingdings" pitchFamily="2" charset="2"/>
              <a:buChar char="à"/>
            </a:pPr>
            <a:r>
              <a:rPr lang="en-US" sz="2400" b="1" dirty="0">
                <a:solidFill>
                  <a:srgbClr val="002060"/>
                </a:solidFill>
                <a:sym typeface="Wingdings" pitchFamily="2" charset="2"/>
              </a:rPr>
              <a:t> Dr </a:t>
            </a:r>
            <a:r>
              <a:rPr lang="en-US" sz="2400" b="1" dirty="0" err="1">
                <a:solidFill>
                  <a:srgbClr val="002060"/>
                </a:solidFill>
                <a:sym typeface="Wingdings" pitchFamily="2" charset="2"/>
              </a:rPr>
              <a:t>Edem</a:t>
            </a:r>
            <a:r>
              <a:rPr lang="en-US" sz="2400" b="1" dirty="0">
                <a:solidFill>
                  <a:srgbClr val="002060"/>
                </a:solidFill>
                <a:sym typeface="Wingdings" pitchFamily="2" charset="2"/>
              </a:rPr>
              <a:t>: they roughly the same </a:t>
            </a:r>
          </a:p>
          <a:p>
            <a:pPr marL="800100" lvl="1" indent="-342900">
              <a:buFont typeface="Wingdings" pitchFamily="2" charset="2"/>
              <a:buChar char="à"/>
            </a:pPr>
            <a:r>
              <a:rPr lang="en-US" sz="2400" b="1" dirty="0">
                <a:solidFill>
                  <a:srgbClr val="002060"/>
                </a:solidFill>
                <a:sym typeface="Wingdings" pitchFamily="2" charset="2"/>
              </a:rPr>
              <a:t>I’ve shared data dictionary for precise answer.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20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03E0-4B97-674C-9190-05B3D25F6BE9}"/>
              </a:ext>
            </a:extLst>
          </p:cNvPr>
          <p:cNvSpPr txBox="1"/>
          <p:nvPr/>
        </p:nvSpPr>
        <p:spPr>
          <a:xfrm>
            <a:off x="6539948" y="424585"/>
            <a:ext cx="486847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6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55FF2-DED9-066E-869B-A48C1A7BE044}"/>
              </a:ext>
            </a:extLst>
          </p:cNvPr>
          <p:cNvSpPr txBox="1"/>
          <p:nvPr/>
        </p:nvSpPr>
        <p:spPr>
          <a:xfrm>
            <a:off x="597677" y="1481556"/>
            <a:ext cx="31599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Dataset size: 228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443A87-234E-79FD-EC61-319D503AD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40" y="2461168"/>
            <a:ext cx="5018965" cy="37824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A81C69-437B-023F-28B6-6A95A4CDA796}"/>
              </a:ext>
            </a:extLst>
          </p:cNvPr>
          <p:cNvSpPr txBox="1"/>
          <p:nvPr/>
        </p:nvSpPr>
        <p:spPr>
          <a:xfrm>
            <a:off x="7660043" y="1480301"/>
            <a:ext cx="31599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ym typeface="Wingdings" pitchFamily="2" charset="2"/>
              </a:rPr>
              <a:t>Male</a:t>
            </a:r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: 106 (47.7%)</a:t>
            </a:r>
          </a:p>
          <a:p>
            <a:r>
              <a:rPr lang="en-US" sz="2400" b="1" dirty="0">
                <a:sym typeface="Wingdings" pitchFamily="2" charset="2"/>
              </a:rPr>
              <a:t>Female</a:t>
            </a:r>
            <a:r>
              <a:rPr lang="en-US" sz="2400" b="1" dirty="0">
                <a:solidFill>
                  <a:srgbClr val="C00000"/>
                </a:solidFill>
                <a:sym typeface="Wingdings" pitchFamily="2" charset="2"/>
              </a:rPr>
              <a:t>: 116 (52.3%)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C74C24-51FD-5BEF-7D99-E96D5C479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448" y="2461168"/>
            <a:ext cx="6241112" cy="435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7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03E0-4B97-674C-9190-05B3D25F6BE9}"/>
              </a:ext>
            </a:extLst>
          </p:cNvPr>
          <p:cNvSpPr txBox="1"/>
          <p:nvPr/>
        </p:nvSpPr>
        <p:spPr>
          <a:xfrm>
            <a:off x="6539948" y="424585"/>
            <a:ext cx="486847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6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description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3FDDAF-4C6C-9A90-7D6A-01B150A84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96" y="1591962"/>
            <a:ext cx="5266038" cy="52660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6C8F6D-D34F-C8A9-9EE1-1F8162731D34}"/>
              </a:ext>
            </a:extLst>
          </p:cNvPr>
          <p:cNvSpPr txBox="1"/>
          <p:nvPr/>
        </p:nvSpPr>
        <p:spPr>
          <a:xfrm>
            <a:off x="5530184" y="2828835"/>
            <a:ext cx="664079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I" sz="2400" dirty="0"/>
              <a:t>Microbiology Standard Reference (MRS):</a:t>
            </a:r>
          </a:p>
          <a:p>
            <a:endParaRPr lang="en-CI" sz="2400" dirty="0"/>
          </a:p>
          <a:p>
            <a:r>
              <a:rPr lang="en-CI" sz="2400" dirty="0"/>
              <a:t>Positive TB =  </a:t>
            </a:r>
            <a:r>
              <a:rPr lang="en-CI" sz="2400" b="1" dirty="0">
                <a:solidFill>
                  <a:srgbClr val="0070C0"/>
                </a:solidFill>
              </a:rPr>
              <a:t>Confirmed TB</a:t>
            </a:r>
          </a:p>
          <a:p>
            <a:r>
              <a:rPr lang="en-CI" sz="2400" dirty="0"/>
              <a:t>Negative TB = </a:t>
            </a:r>
            <a:r>
              <a:rPr lang="en-CI" sz="2400" b="1" dirty="0">
                <a:solidFill>
                  <a:schemeClr val="accent6">
                    <a:lumMod val="50000"/>
                  </a:schemeClr>
                </a:solidFill>
              </a:rPr>
              <a:t>Unconfirmed TB</a:t>
            </a:r>
            <a:r>
              <a:rPr lang="en-CI" sz="2400" b="1" dirty="0"/>
              <a:t> + </a:t>
            </a:r>
            <a:r>
              <a:rPr lang="en-CI" sz="2400" b="1" dirty="0">
                <a:solidFill>
                  <a:srgbClr val="FF0000"/>
                </a:solidFill>
              </a:rPr>
              <a:t>Unlikely TB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F3914E-DBCC-61E7-ED65-EF53D55DFF23}"/>
              </a:ext>
            </a:extLst>
          </p:cNvPr>
          <p:cNvSpPr txBox="1"/>
          <p:nvPr/>
        </p:nvSpPr>
        <p:spPr>
          <a:xfrm>
            <a:off x="5894173" y="1788292"/>
            <a:ext cx="58483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I" sz="2400" b="1" dirty="0">
                <a:solidFill>
                  <a:srgbClr val="BE2BBB"/>
                </a:solidFill>
              </a:rPr>
              <a:t>How to determine Positive TB and Negative TB 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673630-33DD-292A-560B-372F531891AE}"/>
              </a:ext>
            </a:extLst>
          </p:cNvPr>
          <p:cNvSpPr txBox="1"/>
          <p:nvPr/>
        </p:nvSpPr>
        <p:spPr>
          <a:xfrm>
            <a:off x="5425182" y="4757694"/>
            <a:ext cx="69192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I" sz="2400" dirty="0"/>
              <a:t>Clinical Standard Reference (CRS):</a:t>
            </a:r>
          </a:p>
          <a:p>
            <a:endParaRPr lang="en-CI" sz="2400" dirty="0"/>
          </a:p>
          <a:p>
            <a:r>
              <a:rPr lang="en-CI" sz="2400" dirty="0"/>
              <a:t>Positive TB = </a:t>
            </a:r>
            <a:r>
              <a:rPr lang="en-CI" sz="2400" b="1" dirty="0">
                <a:solidFill>
                  <a:srgbClr val="0070C0"/>
                </a:solidFill>
              </a:rPr>
              <a:t>Confirmed TB </a:t>
            </a:r>
            <a:r>
              <a:rPr lang="en-CI" sz="2400" dirty="0"/>
              <a:t>+ </a:t>
            </a:r>
            <a:r>
              <a:rPr lang="en-CI" sz="2400" b="1" dirty="0">
                <a:solidFill>
                  <a:schemeClr val="accent6">
                    <a:lumMod val="50000"/>
                  </a:schemeClr>
                </a:solidFill>
              </a:rPr>
              <a:t>Unconfirmed TB</a:t>
            </a:r>
            <a:r>
              <a:rPr lang="en-CI" sz="2400" b="1" dirty="0"/>
              <a:t> </a:t>
            </a:r>
            <a:endParaRPr lang="en-CI" sz="2400" dirty="0"/>
          </a:p>
          <a:p>
            <a:r>
              <a:rPr lang="en-CI" sz="2400" dirty="0"/>
              <a:t>Negative TB = </a:t>
            </a:r>
            <a:r>
              <a:rPr lang="en-CI" sz="2400" b="1" dirty="0">
                <a:solidFill>
                  <a:srgbClr val="FF0000"/>
                </a:solidFill>
              </a:rPr>
              <a:t>Unlikely TB</a:t>
            </a:r>
            <a:endParaRPr lang="en-CI" sz="2400" b="1" dirty="0"/>
          </a:p>
        </p:txBody>
      </p:sp>
    </p:spTree>
    <p:extLst>
      <p:ext uri="{BB962C8B-B14F-4D97-AF65-F5344CB8AC3E}">
        <p14:creationId xmlns:p14="http://schemas.microsoft.com/office/powerpoint/2010/main" val="348015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03E0-4B97-674C-9190-05B3D25F6BE9}"/>
              </a:ext>
            </a:extLst>
          </p:cNvPr>
          <p:cNvSpPr txBox="1"/>
          <p:nvPr/>
        </p:nvSpPr>
        <p:spPr>
          <a:xfrm>
            <a:off x="6539948" y="424585"/>
            <a:ext cx="486847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6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 done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EE6B1-2F54-3E9E-679E-14FF59C622CA}"/>
              </a:ext>
            </a:extLst>
          </p:cNvPr>
          <p:cNvSpPr txBox="1"/>
          <p:nvPr/>
        </p:nvSpPr>
        <p:spPr>
          <a:xfrm>
            <a:off x="640565" y="2151727"/>
            <a:ext cx="923248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4000" b="1" dirty="0">
                <a:solidFill>
                  <a:srgbClr val="7030A0"/>
                </a:solidFill>
              </a:rPr>
              <a:t>Cleaning the data for modelling</a:t>
            </a:r>
          </a:p>
          <a:p>
            <a:pPr marL="571500" indent="-571500">
              <a:buFontTx/>
              <a:buChar char="-"/>
            </a:pPr>
            <a:endParaRPr lang="en-US" sz="4000" b="1" dirty="0">
              <a:solidFill>
                <a:srgbClr val="7030A0"/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4000" b="1" dirty="0">
                <a:solidFill>
                  <a:srgbClr val="7030A0"/>
                </a:solidFill>
              </a:rPr>
              <a:t>Split the data into train/test based on age/gender/diagnosis </a:t>
            </a:r>
          </a:p>
          <a:p>
            <a:pPr marL="571500" indent="-571500">
              <a:buFontTx/>
              <a:buChar char="-"/>
            </a:pPr>
            <a:endParaRPr lang="en-US" sz="4000" b="1" dirty="0">
              <a:solidFill>
                <a:srgbClr val="7030A0"/>
              </a:solidFill>
            </a:endParaRPr>
          </a:p>
          <a:p>
            <a:pPr marL="571500" indent="-571500">
              <a:buFontTx/>
              <a:buChar char="-"/>
            </a:pPr>
            <a:r>
              <a:rPr lang="en-US" sz="4000" b="1" dirty="0">
                <a:solidFill>
                  <a:srgbClr val="7030A0"/>
                </a:solidFill>
              </a:rPr>
              <a:t>Baseline models (using CRS label)</a:t>
            </a:r>
          </a:p>
          <a:p>
            <a:pPr marL="571500" indent="-571500">
              <a:buFontTx/>
              <a:buChar char="-"/>
            </a:pPr>
            <a:endParaRPr lang="en-US" sz="40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868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03E0-4B97-674C-9190-05B3D25F6BE9}"/>
              </a:ext>
            </a:extLst>
          </p:cNvPr>
          <p:cNvSpPr txBox="1"/>
          <p:nvPr/>
        </p:nvSpPr>
        <p:spPr>
          <a:xfrm>
            <a:off x="6539948" y="424585"/>
            <a:ext cx="486847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6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6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Preliminary results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860BDC-F5A6-D304-6EB8-DA5396039F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68" r="6769"/>
          <a:stretch/>
        </p:blipFill>
        <p:spPr>
          <a:xfrm>
            <a:off x="228981" y="1791730"/>
            <a:ext cx="11831217" cy="1468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A79121-C6FD-CF16-3A3A-F4F25B7DF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876" y="3683590"/>
            <a:ext cx="4660557" cy="31744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165722-B8B3-A2DF-236B-04D51596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8481" y="3597875"/>
            <a:ext cx="5218022" cy="317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57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E03E0-4B97-674C-9190-05B3D25F6BE9}"/>
              </a:ext>
            </a:extLst>
          </p:cNvPr>
          <p:cNvSpPr txBox="1"/>
          <p:nvPr/>
        </p:nvSpPr>
        <p:spPr>
          <a:xfrm>
            <a:off x="6539948" y="424585"/>
            <a:ext cx="486847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en-US" sz="3600" b="1" spc="-100" dirty="0">
                <a:solidFill>
                  <a:srgbClr val="00BED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3600" b="1" spc="-100" dirty="0">
                <a:solidFill>
                  <a:srgbClr val="2E2D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EE6B1-2F54-3E9E-679E-14FF59C622CA}"/>
              </a:ext>
            </a:extLst>
          </p:cNvPr>
          <p:cNvSpPr txBox="1"/>
          <p:nvPr/>
        </p:nvSpPr>
        <p:spPr>
          <a:xfrm>
            <a:off x="900058" y="2299599"/>
            <a:ext cx="108790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sz="4000" b="1" dirty="0">
                <a:solidFill>
                  <a:srgbClr val="002060"/>
                </a:solidFill>
              </a:rPr>
              <a:t>Improve the model with more features</a:t>
            </a:r>
            <a:r>
              <a:rPr lang="en-US" sz="4000" b="1" dirty="0">
                <a:solidFill>
                  <a:srgbClr val="C00000"/>
                </a:solidFill>
              </a:rPr>
              <a:t> engineering</a:t>
            </a:r>
          </a:p>
          <a:p>
            <a:pPr marL="571500" indent="-571500">
              <a:buFontTx/>
              <a:buChar char="-"/>
            </a:pPr>
            <a:r>
              <a:rPr lang="en-US" sz="4000" b="1" dirty="0">
                <a:solidFill>
                  <a:srgbClr val="002060"/>
                </a:solidFill>
              </a:rPr>
              <a:t>Discuss results with </a:t>
            </a:r>
            <a:r>
              <a:rPr lang="en-US" sz="4000" b="1" dirty="0" err="1">
                <a:solidFill>
                  <a:srgbClr val="002060"/>
                </a:solidFill>
              </a:rPr>
              <a:t>Edem</a:t>
            </a:r>
            <a:r>
              <a:rPr lang="en-US" sz="4000" b="1" dirty="0">
                <a:solidFill>
                  <a:srgbClr val="002060"/>
                </a:solidFill>
              </a:rPr>
              <a:t> to get more insights</a:t>
            </a:r>
          </a:p>
        </p:txBody>
      </p:sp>
    </p:spTree>
    <p:extLst>
      <p:ext uri="{BB962C8B-B14F-4D97-AF65-F5344CB8AC3E}">
        <p14:creationId xmlns:p14="http://schemas.microsoft.com/office/powerpoint/2010/main" val="137029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BCEF64-EE15-DB48-8EE8-A46172C20263}"/>
              </a:ext>
            </a:extLst>
          </p:cNvPr>
          <p:cNvSpPr/>
          <p:nvPr/>
        </p:nvSpPr>
        <p:spPr>
          <a:xfrm>
            <a:off x="6163201" y="5904254"/>
            <a:ext cx="1723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@mrcunitgambia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E92214-E14F-F64C-B2F9-4BE6936FC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905" y="1615302"/>
            <a:ext cx="7556500" cy="1625600"/>
          </a:xfrm>
          <a:prstGeom prst="rect">
            <a:avLst/>
          </a:prstGeom>
        </p:spPr>
      </p:pic>
      <p:pic>
        <p:nvPicPr>
          <p:cNvPr id="2" name="Picture 1" descr="A close-up of a person's face&#10;&#10;Description automatically generated with low confidence">
            <a:extLst>
              <a:ext uri="{FF2B5EF4-FFF2-40B4-BE49-F238E27FC236}">
                <a16:creationId xmlns:a16="http://schemas.microsoft.com/office/drawing/2014/main" id="{D1DD6BB6-9510-324F-ABF6-5F96BF1B7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400" y="5984390"/>
            <a:ext cx="236331" cy="19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55143F6-A8AD-5242-9651-687132E7DBF4}"/>
              </a:ext>
            </a:extLst>
          </p:cNvPr>
          <p:cNvSpPr/>
          <p:nvPr/>
        </p:nvSpPr>
        <p:spPr>
          <a:xfrm>
            <a:off x="344465" y="5675654"/>
            <a:ext cx="55618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MRC Unit The Gambia at the London School of Hygiene &amp; Tropical Medicine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C19200-0646-604E-8F40-59D8015C0073}"/>
              </a:ext>
            </a:extLst>
          </p:cNvPr>
          <p:cNvSpPr/>
          <p:nvPr/>
        </p:nvSpPr>
        <p:spPr>
          <a:xfrm>
            <a:off x="10082631" y="5892679"/>
            <a:ext cx="210409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www.mrc.gm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7405D3-B1B0-2247-BBEE-98DF023F00D9}"/>
              </a:ext>
            </a:extLst>
          </p:cNvPr>
          <p:cNvSpPr/>
          <p:nvPr/>
        </p:nvSpPr>
        <p:spPr>
          <a:xfrm>
            <a:off x="8102667" y="5892679"/>
            <a:ext cx="17230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@mrcunitgambia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6DB9BA-206F-6D48-AB32-7425EC7D2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4584" y="5961779"/>
            <a:ext cx="223200" cy="2218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CC62A1-BA32-1EA5-A9AC-8023773BEFA3}"/>
              </a:ext>
            </a:extLst>
          </p:cNvPr>
          <p:cNvSpPr txBox="1"/>
          <p:nvPr/>
        </p:nvSpPr>
        <p:spPr>
          <a:xfrm>
            <a:off x="1861050" y="3474687"/>
            <a:ext cx="73902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I" sz="8800" b="1" dirty="0">
                <a:solidFill>
                  <a:srgbClr val="7030A0"/>
                </a:solidFill>
              </a:rPr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2615594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165E7C66-784E-684A-A0DB-197ADCFF72CD}"/>
    </a:ext>
  </a:extLst>
</a:theme>
</file>

<file path=ppt/theme/theme2.xml><?xml version="1.0" encoding="utf-8"?>
<a:theme xmlns:a="http://schemas.openxmlformats.org/drawingml/2006/main" name="3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2A4AB48D-1E53-6B48-9286-AB3531A83654}"/>
    </a:ext>
  </a:extLst>
</a:theme>
</file>

<file path=ppt/theme/theme3.xml><?xml version="1.0" encoding="utf-8"?>
<a:theme xmlns:a="http://schemas.openxmlformats.org/drawingml/2006/main" name="4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2DC5A83B-8F07-994D-A2F4-FFA46CE97FC7}"/>
    </a:ext>
  </a:extLst>
</a:theme>
</file>

<file path=ppt/theme/theme4.xml><?xml version="1.0" encoding="utf-8"?>
<a:theme xmlns:a="http://schemas.openxmlformats.org/drawingml/2006/main" name="2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10CCF5E3-45D7-6B40-A28D-E988A6542633}"/>
    </a:ext>
  </a:extLst>
</a:theme>
</file>

<file path=ppt/theme/theme5.xml><?xml version="1.0" encoding="utf-8"?>
<a:theme xmlns:a="http://schemas.openxmlformats.org/drawingml/2006/main" name="5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3556C173-275E-2242-B175-482CEF1A2D06}"/>
    </a:ext>
  </a:extLst>
</a:theme>
</file>

<file path=ppt/theme/theme6.xml><?xml version="1.0" encoding="utf-8"?>
<a:theme xmlns:a="http://schemas.openxmlformats.org/drawingml/2006/main" name="1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A1551556-4CC6-084A-85D2-0DCE09B30FD6}"/>
    </a:ext>
  </a:extLst>
</a:theme>
</file>

<file path=ppt/theme/theme7.xml><?xml version="1.0" encoding="utf-8"?>
<a:theme xmlns:a="http://schemas.openxmlformats.org/drawingml/2006/main" name="6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A9FDBFA4-E4CE-0041-9C0C-AF50DE85F768}"/>
    </a:ext>
  </a:extLst>
</a:theme>
</file>

<file path=ppt/theme/theme8.xml><?xml version="1.0" encoding="utf-8"?>
<a:theme xmlns:a="http://schemas.openxmlformats.org/drawingml/2006/main" name="7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987DC274-EE1F-A649-8AA3-FDE8A6F000A4}"/>
    </a:ext>
  </a:extLst>
</a:theme>
</file>

<file path=ppt/theme/theme9.xml><?xml version="1.0" encoding="utf-8"?>
<a:theme xmlns:a="http://schemas.openxmlformats.org/drawingml/2006/main" name="8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202CD902-871B-4845-B589-BBA7346F3D44}"/>
    </a:ext>
  </a:extLst>
</a:theme>
</file>

<file path=ppt/theme/theme10.xml><?xml version="1.0" encoding="utf-8"?>
<a:theme xmlns:a="http://schemas.openxmlformats.org/drawingml/2006/main" name="9_Font and logo master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17A397D8-EC8E-1044-BFCA-20611C56346F}"/>
    </a:ext>
  </a:extLst>
</a:theme>
</file>

<file path=ppt/theme/theme11.xml><?xml version="1.0" encoding="utf-8"?>
<a:theme xmlns:a="http://schemas.openxmlformats.org/drawingml/2006/main" name="Font master without logo">
  <a:themeElements>
    <a:clrScheme name="MRC Theme">
      <a:dk1>
        <a:srgbClr val="2E2C61"/>
      </a:dk1>
      <a:lt1>
        <a:srgbClr val="FFFFFF"/>
      </a:lt1>
      <a:dk2>
        <a:srgbClr val="2E2C61"/>
      </a:dk2>
      <a:lt2>
        <a:srgbClr val="FFFFFF"/>
      </a:lt2>
      <a:accent1>
        <a:srgbClr val="00BED5"/>
      </a:accent1>
      <a:accent2>
        <a:srgbClr val="008AAD"/>
      </a:accent2>
      <a:accent3>
        <a:srgbClr val="E94D36"/>
      </a:accent3>
      <a:accent4>
        <a:srgbClr val="61616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RC_ The_Gambia_LSHTM_master_powerpoint_template" id="{B6ACDC9C-8A5D-E745-A4D5-246F659B6EB1}" vid="{A243B1D1-D159-614A-91FC-F3D0DE1FBB80}"/>
    </a:ext>
  </a:extLst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6BBF4C69D68F4A904E1E946CA76E8B" ma:contentTypeVersion="16" ma:contentTypeDescription="Create a new document." ma:contentTypeScope="" ma:versionID="06c0f352f7267f14eca89a8c24376458">
  <xsd:schema xmlns:xsd="http://www.w3.org/2001/XMLSchema" xmlns:xs="http://www.w3.org/2001/XMLSchema" xmlns:p="http://schemas.microsoft.com/office/2006/metadata/properties" xmlns:ns2="6a164dda-3779-4169-b957-e287451f6523" xmlns:ns3="633592e4-542a-406c-b1a8-45f2eacf0954" xmlns:ns4="d3107bcb-18eb-4ee9-9c59-2dfc2e229e0e" targetNamespace="http://schemas.microsoft.com/office/2006/metadata/properties" ma:root="true" ma:fieldsID="abd1938c8c5f28c8bc0bbacd081215cc" ns2:_="" ns3:_="" ns4:_="">
    <xsd:import namespace="6a164dda-3779-4169-b957-e287451f6523"/>
    <xsd:import namespace="633592e4-542a-406c-b1a8-45f2eacf0954"/>
    <xsd:import namespace="d3107bcb-18eb-4ee9-9c59-2dfc2e229e0e"/>
    <xsd:element name="properties">
      <xsd:complexType>
        <xsd:sequence>
          <xsd:element name="documentManagement">
            <xsd:complexType>
              <xsd:all>
                <xsd:element ref="ns2:Visibility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4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164dda-3779-4169-b957-e287451f6523" elementFormDefault="qualified">
    <xsd:import namespace="http://schemas.microsoft.com/office/2006/documentManagement/types"/>
    <xsd:import namespace="http://schemas.microsoft.com/office/infopath/2007/PartnerControls"/>
    <xsd:element name="Visibility" ma:index="2" nillable="true" ma:displayName="Visibility" ma:default="Internal" ma:description="Items that should be available externally should be marked &lt;strong&gt;External&lt;/strong&gt;" ma:format="RadioButtons" ma:internalName="Visibility">
      <xsd:simpleType>
        <xsd:restriction base="dms:Choice">
          <xsd:enumeration value="Internal"/>
          <xsd:enumeration value="External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3592e4-542a-406c-b1a8-45f2eacf09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8207403b-203c-4ed3-95cd-88a8521891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107bcb-18eb-4ee9-9c59-2dfc2e229e0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9f632a08-be45-44e3-9a9a-ef82b9d187db}" ma:internalName="TaxCatchAll" ma:showField="CatchAllData" ma:web="d3107bcb-18eb-4ee9-9c59-2dfc2e229e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8207403b-203c-4ed3-95cd-88a852189123" ContentTypeId="0x01" PreviousValue="fals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3107bcb-18eb-4ee9-9c59-2dfc2e229e0e" xsi:nil="true"/>
    <lcf76f155ced4ddcb4097134ff3c332f xmlns="633592e4-542a-406c-b1a8-45f2eacf0954">
      <Terms xmlns="http://schemas.microsoft.com/office/infopath/2007/PartnerControls"/>
    </lcf76f155ced4ddcb4097134ff3c332f>
    <Visibility xmlns="6a164dda-3779-4169-b957-e287451f6523">Internal</Visibility>
  </documentManagement>
</p:properties>
</file>

<file path=customXml/itemProps1.xml><?xml version="1.0" encoding="utf-8"?>
<ds:datastoreItem xmlns:ds="http://schemas.openxmlformats.org/officeDocument/2006/customXml" ds:itemID="{E1997814-15D0-4350-9295-99812F6C33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164dda-3779-4169-b957-e287451f6523"/>
    <ds:schemaRef ds:uri="633592e4-542a-406c-b1a8-45f2eacf0954"/>
    <ds:schemaRef ds:uri="d3107bcb-18eb-4ee9-9c59-2dfc2e229e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0E283B8-91BF-4E25-AAFC-E505C43B305D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9D368E44-A3AC-4E4A-8350-B475F81C791D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F2E70302-6126-42A1-80AD-50490B2DC8B3}">
  <ds:schemaRefs>
    <ds:schemaRef ds:uri="http://schemas.microsoft.com/office/2006/metadata/properties"/>
    <ds:schemaRef ds:uri="e5ebcf68-ced2-4a98-b72f-28c94d1ed58b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7e30df28-d906-45ca-99b3-b21bab123d78"/>
    <ds:schemaRef ds:uri="http://www.w3.org/XML/1998/namespace"/>
    <ds:schemaRef ds:uri="http://purl.org/dc/dcmitype/"/>
    <ds:schemaRef ds:uri="d3107bcb-18eb-4ee9-9c59-2dfc2e229e0e"/>
    <ds:schemaRef ds:uri="633592e4-542a-406c-b1a8-45f2eacf0954"/>
    <ds:schemaRef ds:uri="6a164dda-3779-4169-b957-e287451f652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MRC_ The_Gambia_LSHTM_master_powerpoint_template</Template>
  <TotalTime>46795</TotalTime>
  <Words>296</Words>
  <Application>Microsoft Office PowerPoint</Application>
  <PresentationFormat>Widescreen</PresentationFormat>
  <Paragraphs>52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Font and logo master</vt:lpstr>
      <vt:lpstr>3_Font and logo master</vt:lpstr>
      <vt:lpstr>4_Font and logo master</vt:lpstr>
      <vt:lpstr>2_Font and logo master</vt:lpstr>
      <vt:lpstr>5_Font and logo master</vt:lpstr>
      <vt:lpstr>1_Font and logo master</vt:lpstr>
      <vt:lpstr>6_Font and logo master</vt:lpstr>
      <vt:lpstr>7_Font and logo master</vt:lpstr>
      <vt:lpstr>8_Font and logo master</vt:lpstr>
      <vt:lpstr>9_Font and logo master</vt:lpstr>
      <vt:lpstr>Font master without logo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Naomi Stewart</dc:creator>
  <cp:lastModifiedBy>Ismaël Koné</cp:lastModifiedBy>
  <cp:revision>25</cp:revision>
  <dcterms:created xsi:type="dcterms:W3CDTF">2023-02-20T16:22:35Z</dcterms:created>
  <dcterms:modified xsi:type="dcterms:W3CDTF">2025-05-27T12:43:34Z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0x010100256BBF4C69D68F4A904E1E946CA76E8B</vt:lpwstr>
  </property>
  <property fmtid="{D5CDD505-2E9C-101B-9397-08002B2CF9AE}" pid="3" name="_dlc_DocIdItemGuid">
    <vt:lpwstr>c71baa5d-9b73-423e-b72d-a8da67227986</vt:lpwstr>
  </property>
  <property fmtid="{D5CDD505-2E9C-101B-9397-08002B2CF9AE}" pid="4" name="MediaServiceImageTags">
    <vt:lpwstr/>
  </property>
</Properties>
</file>